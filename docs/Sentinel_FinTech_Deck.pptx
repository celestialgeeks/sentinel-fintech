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1280160"/>
            <a:ext cx="4937760" cy="4937760"/>
          </a:xfrm>
          <a:prstGeom prst="ellipse">
            <a:avLst/>
          </a:prstGeom>
          <a:solidFill>
            <a:srgbClr val="10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548640"/>
            <a:ext cx="3657600" cy="3657600"/>
          </a:xfrm>
          <a:prstGeom prst="ellipse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8229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43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IPS ACADEMY, INDORE  ·  CSE–AIML  ·  B.TECH MAJOR PROJECT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7400" b="1" i="0">
                <a:solidFill>
                  <a:srgbClr val="FFFFFF"/>
                </a:solidFill>
                <a:latin typeface="Georgia"/>
              </a:rPr>
              <a:t>SENTINEL</a:t>
            </a:r>
          </a:p>
          <a:p>
            <a:pPr algn="l">
              <a:spcBef>
                <a:spcPts val="600"/>
              </a:spcBef>
            </a:pPr>
            <a:r>
              <a:rPr sz="3000" b="0" i="1">
                <a:solidFill>
                  <a:srgbClr val="E8CC7A"/>
                </a:solidFill>
                <a:latin typeface="Georgia"/>
              </a:rPr>
              <a:t>AI-Powered Financial Crime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FA3B8"/>
                </a:solidFill>
                <a:latin typeface="Calibri"/>
              </a:rPr>
              <a:t>Transaction Screening  ·  Fraud Detection  ·  Merchant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09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E8CC7A"/>
                </a:solidFill>
                <a:latin typeface="Georgia"/>
              </a:rPr>
              <a:t>“Behind every alert is a person trying to do the right thing — we built Sentinel so machines catch the noise and humans keep the trust.”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3B8"/>
                </a:solidFill>
                <a:latin typeface="Calibri"/>
              </a:rPr>
              <a:t>SHREYASH SINGH &amp; Team   ·   Guide: Prof. (CSE–AIML)   ·   RGPV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The human cost of financial crime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Why one platform can change how institutions protect people and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13263A"/>
                </a:solidFill>
                <a:latin typeface="Georgia"/>
              </a:rPr>
              <a:t>Every day, institutions drown in a flood of alerts. Most are false — and each one steals time from an analyst who could be stopping real harm.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585216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350" b="1" i="0">
                <a:solidFill>
                  <a:srgbClr val="13263A"/>
                </a:solidFill>
                <a:latin typeface="Calibri"/>
              </a:rPr>
              <a:t>Money laundering: </a:t>
            </a:r>
            <a:r>
              <a:rPr sz="1350" b="1" i="0">
                <a:solidFill>
                  <a:srgbClr val="C2472E"/>
                </a:solidFill>
                <a:latin typeface="Calibri"/>
              </a:rPr>
              <a:t>2–5% of global GDP ($0.8–2T/yr)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  — FATF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94% of AML alerts are </a:t>
            </a:r>
            <a:r>
              <a:rPr sz="1350" b="1" i="0">
                <a:solidFill>
                  <a:srgbClr val="C2472E"/>
                </a:solidFill>
                <a:latin typeface="Calibri"/>
              </a:rPr>
              <a:t>false positives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, reviewed at </a:t>
            </a:r>
            <a:r>
              <a:rPr sz="1350" b="1" i="0">
                <a:solidFill>
                  <a:srgbClr val="13263A"/>
                </a:solidFill>
                <a:latin typeface="Calibri"/>
              </a:rPr>
              <a:t>$50–$100 each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Fraud rings hide in </a:t>
            </a:r>
            <a:r>
              <a:rPr sz="1350" b="1" i="0">
                <a:solidFill>
                  <a:srgbClr val="13263A"/>
                </a:solidFill>
                <a:latin typeface="Calibri"/>
              </a:rPr>
              <a:t>relationships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 no single rule can see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311% rise in </a:t>
            </a:r>
            <a:r>
              <a:rPr sz="1350" b="1" i="0">
                <a:solidFill>
                  <a:srgbClr val="C2472E"/>
                </a:solidFill>
                <a:latin typeface="Calibri"/>
              </a:rPr>
              <a:t>synthetic-identity fraud</a:t>
            </a:r>
            <a:r>
              <a:rPr sz="1350" b="0" i="0">
                <a:solidFill>
                  <a:srgbClr val="45576C"/>
                </a:solidFill>
                <a:latin typeface="Calibri"/>
              </a:rPr>
              <a:t> in a single year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350" b="1" i="0">
                <a:solidFill>
                  <a:srgbClr val="13263A"/>
                </a:solidFill>
                <a:latin typeface="Calibri"/>
              </a:rPr>
              <a:t>UPI alone: </a:t>
            </a:r>
            <a:r>
              <a:rPr sz="1350" b="1" i="0">
                <a:solidFill>
                  <a:srgbClr val="0C7C55"/>
                </a:solidFill>
                <a:latin typeface="Calibri"/>
              </a:rPr>
              <a:t>15B+ transactions every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828800"/>
            <a:ext cx="50292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01168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2472E"/>
                </a:solidFill>
                <a:latin typeface="Georgia"/>
              </a:rPr>
              <a:t>$20B+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45576C"/>
                </a:solidFill>
                <a:latin typeface="Calibri"/>
              </a:rPr>
              <a:t>spent yearly on AML compliance worldwide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429000"/>
            <a:ext cx="245059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61188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94%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45576C"/>
                </a:solidFill>
                <a:latin typeface="Calibri"/>
              </a:rPr>
              <a:t>of alerts are false alarms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8008" y="3429000"/>
            <a:ext cx="2450592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82328" y="361188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94%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45576C"/>
                </a:solidFill>
                <a:latin typeface="Calibri"/>
              </a:rPr>
              <a:t>miss simplest fraud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5029200"/>
            <a:ext cx="5029200" cy="1051560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519379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Legacy rules can’t see the story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8FA3B8"/>
                </a:solidFill>
                <a:latin typeface="Calibri"/>
              </a:rPr>
              <a:t>context-blind, static, and siloed — until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02 · THE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One platform, three protections, people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Sentinel unifies screening, fraud detection, and merchant approval on one real-time spine.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611880" cy="278892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36118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Calibri"/>
              </a:rPr>
              <a:t>PILLAR 1  · 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263A"/>
                </a:solidFill>
                <a:latin typeface="Georgia"/>
              </a:rPr>
              <a:t>Catch bad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5576C"/>
                </a:solidFill>
                <a:latin typeface="Calibri"/>
              </a:rPr>
              <a:t>AML &amp; sanctions checks on every transaction, with entity resolution that understands names — not just strings.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611880" cy="278892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3611880" cy="8229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774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9F6E"/>
                </a:solidFill>
                <a:latin typeface="Calibri"/>
              </a:rPr>
              <a:t>PILLAR 2  ·  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2491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263A"/>
                </a:solidFill>
                <a:latin typeface="Georgia"/>
              </a:rPr>
              <a:t>Stop fraud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747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5576C"/>
                </a:solidFill>
                <a:latin typeface="Calibri"/>
              </a:rPr>
              <a:t>Behavioral profiling + ML + graph find coordinated fraud rings a single rule misses.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148840"/>
            <a:ext cx="3611880" cy="278892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148840"/>
            <a:ext cx="3611880" cy="82296"/>
          </a:xfrm>
          <a:prstGeom prst="rect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3774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3A63"/>
                </a:solidFill>
                <a:latin typeface="Calibri"/>
              </a:rPr>
              <a:t>PILLAR 3  ·  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24912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263A"/>
                </a:solidFill>
                <a:latin typeface="Georgia"/>
              </a:rPr>
              <a:t>Trust good merchants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47472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5576C"/>
                </a:solidFill>
                <a:latin typeface="Calibri"/>
              </a:rPr>
              <a:t>KYB/KYC in minutes, not days — rigorous, explainable, fair to honest businesses.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63A"/>
                </a:solidFill>
                <a:latin typeface="Georgia"/>
              </a:rPr>
              <a:t>Why it matters to people   </a:t>
            </a:r>
            <a:r>
              <a:rPr sz="1300" b="0" i="0">
                <a:solidFill>
                  <a:srgbClr val="45576C"/>
                </a:solidFill>
                <a:latin typeface="Calibri"/>
              </a:rPr>
              <a:t>fewer false alarms means analysts investigate what truly matters; faster onboarding gets real businesses to market; cleaner screening keeps every customer’s money safer.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03 · 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One event-driven spine, three risk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A single real-time pipeline unifies screening, fraud, and onboarding so risk context is shared everywhere.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783080"/>
            <a:ext cx="9052560" cy="502920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39" y="1833372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 Apps  ·  Dashboard / Mobile / Integrations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286000"/>
            <a:ext cx="64008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2450592"/>
            <a:ext cx="4114800" cy="502920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250088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FastAPI Gateway  ·  Auth · Rate Limit · 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2962656"/>
            <a:ext cx="64008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23360" y="3127248"/>
            <a:ext cx="4114800" cy="502920"/>
          </a:xfrm>
          <a:prstGeom prst="roundRect">
            <a:avLst>
              <a:gd name="adj" fmla="val 5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31775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Kafka Event Bus  (real-time risk context)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41648"/>
            <a:ext cx="3474720" cy="960120"/>
          </a:xfrm>
          <a:prstGeom prst="roundRect">
            <a:avLst>
              <a:gd name="adj" fmla="val 55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69663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SCREEN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AML Screening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4041648"/>
            <a:ext cx="3474720" cy="960120"/>
          </a:xfrm>
          <a:prstGeom prst="roundRect">
            <a:avLst>
              <a:gd name="adj" fmla="val 5500"/>
            </a:avLst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169663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DETECT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Fraud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041648"/>
            <a:ext cx="3474720" cy="960120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4169663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APPROVE</a:t>
            </a:r>
          </a:p>
          <a:p>
            <a:pPr algn="l">
              <a:spcBef>
                <a:spcPts val="200"/>
              </a:spcBef>
            </a:pPr>
            <a:r>
              <a:rPr sz="1500" b="1" i="0">
                <a:solidFill>
                  <a:srgbClr val="FFFFFF"/>
                </a:solidFill>
                <a:latin typeface="Georgia"/>
              </a:rPr>
              <a:t>Merchant KYB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84832" y="3657600"/>
            <a:ext cx="59436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806440" y="3657600"/>
            <a:ext cx="59436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528048" y="3657600"/>
            <a:ext cx="59436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349240"/>
            <a:ext cx="2377440" cy="6858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54132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PostgreSQL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45576C"/>
                </a:solidFill>
                <a:latin typeface="Calibri"/>
              </a:rPr>
              <a:t>facts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5349240"/>
            <a:ext cx="2377440" cy="6858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54132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Milvus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45576C"/>
                </a:solidFill>
                <a:latin typeface="Calibri"/>
              </a:rPr>
              <a:t>vectors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49240"/>
            <a:ext cx="2377440" cy="6858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4132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Neo4j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45576C"/>
                </a:solidFill>
                <a:latin typeface="Calibri"/>
              </a:rPr>
              <a:t>graph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5349240"/>
            <a:ext cx="2377440" cy="6858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54132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Redis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45576C"/>
                </a:solidFill>
                <a:latin typeface="Calibri"/>
              </a:rPr>
              <a:t>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5576C"/>
                </a:solidFill>
                <a:latin typeface="Calibri"/>
              </a:rPr>
              <a:t>Docker Compose deploys the full 10-service stack with one command — designed Kubernetes-ready.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04 ·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Transaction Screening — AML &amp; sanctions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Every transaction is checked against rules and watchlists before money moves.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F6EED7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INGEST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13263A"/>
                </a:solidFill>
                <a:latin typeface="Calibri"/>
              </a:rPr>
              <a:t>Transaction arrives
(sender · receiver · amount)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0088" y="2880360"/>
            <a:ext cx="50292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2152" y="219456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3317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RULES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13263A"/>
                </a:solidFill>
                <a:latin typeface="Calibri"/>
              </a:rPr>
              <a:t>5 deterministic AML rules
amount · structuring · jurisdiction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2880360"/>
            <a:ext cx="50292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1383" y="219456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23317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63A"/>
                </a:solidFill>
                <a:latin typeface="Calibri"/>
              </a:rPr>
              <a:t>WATCHLIST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13263A"/>
                </a:solidFill>
                <a:latin typeface="Calibri"/>
              </a:rPr>
              <a:t>Entity resolution + Milvus
fuzzy name matching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88552" y="2880360"/>
            <a:ext cx="502920" cy="10058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0615" y="2194560"/>
            <a:ext cx="2468880" cy="1554480"/>
          </a:xfrm>
          <a:prstGeom prst="roundRect">
            <a:avLst>
              <a:gd name="adj" fmla="val 5500"/>
            </a:avLst>
          </a:prstGeom>
          <a:solidFill>
            <a:srgbClr val="E3F3EC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3495" y="233172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7C55"/>
                </a:solidFill>
                <a:latin typeface="Calibri"/>
              </a:rPr>
              <a:t>DECIDE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050" b="0" i="0">
                <a:solidFill>
                  <a:srgbClr val="13263A"/>
                </a:solidFill>
                <a:latin typeface="Calibri"/>
              </a:rPr>
              <a:t>Risk score →
APPROVE · REVIEW ·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80"/>
            <a:ext cx="11109960" cy="502920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422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Output: risk_score · flags · matched entities · recommendation · human-readable explanation  —  every decision audited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5760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250" b="0" i="0">
                <a:solidFill>
                  <a:srgbClr val="45576C"/>
                </a:solidFill>
                <a:latin typeface="Calibri"/>
              </a:rPr>
              <a:t>Entity resolution understands </a:t>
            </a:r>
            <a:r>
              <a:rPr sz="1250" b="1" i="0">
                <a:solidFill>
                  <a:srgbClr val="13263A"/>
                </a:solidFill>
                <a:latin typeface="Calibri"/>
              </a:rPr>
              <a:t>names, not strings</a:t>
            </a:r>
            <a:r>
              <a:rPr sz="1250" b="0" i="0">
                <a:solidFill>
                  <a:srgbClr val="45576C"/>
                </a:solidFill>
                <a:latin typeface="Calibri"/>
              </a:rPr>
              <a:t> — aliases, transliterations, typos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250" b="0" i="0">
                <a:solidFill>
                  <a:srgbClr val="45576C"/>
                </a:solidFill>
                <a:latin typeface="Calibri"/>
              </a:rPr>
              <a:t>Vector similarity in </a:t>
            </a:r>
            <a:r>
              <a:rPr sz="1250" b="1" i="0">
                <a:solidFill>
                  <a:srgbClr val="13263A"/>
                </a:solidFill>
                <a:latin typeface="Calibri"/>
              </a:rPr>
              <a:t>Milvus</a:t>
            </a:r>
            <a:r>
              <a:rPr sz="1250" b="0" i="0">
                <a:solidFill>
                  <a:srgbClr val="45576C"/>
                </a:solidFill>
                <a:latin typeface="Calibri"/>
              </a:rPr>
              <a:t> catches matches exact lookup misses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─  </a:t>
            </a:r>
            <a:r>
              <a:rPr sz="1250" b="0" i="0">
                <a:solidFill>
                  <a:srgbClr val="45576C"/>
                </a:solidFill>
                <a:latin typeface="Calibri"/>
              </a:rPr>
              <a:t>Thresholds: </a:t>
            </a:r>
            <a:r>
              <a:rPr sz="1250" b="1" i="0">
                <a:solidFill>
                  <a:srgbClr val="0C7C55"/>
                </a:solidFill>
                <a:latin typeface="Calibri"/>
              </a:rPr>
              <a:t>REVIEW ≥ 0.40 · BLOCK ≥ 0.70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800600"/>
            <a:ext cx="5074920" cy="123444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3263A"/>
                </a:solidFill>
                <a:latin typeface="Georgia"/>
              </a:rPr>
              <a:t>The human layer  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Analysts see a clear reason, not a raw score — so a blocked transfer can be explained to the customer who simply made a mistake.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05 ·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Real-time fraud detection that learns the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Behavioral profiling + ML + relationship graphs — then an agent that investigates before a human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4937760" cy="566928"/>
          </a:xfrm>
          <a:prstGeom prst="roundRect">
            <a:avLst>
              <a:gd name="adj" fmla="val 55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9397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BEHAVIOR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z-score · velocity · geo · time of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70048"/>
            <a:ext cx="4937760" cy="566928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523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LEARN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XGBoost classifier spaces normal from fraud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28415"/>
            <a:ext cx="4937760" cy="566928"/>
          </a:xfrm>
          <a:prstGeom prst="roundRect">
            <a:avLst>
              <a:gd name="adj" fmla="val 5500"/>
            </a:avLst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1071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CONNECT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Neo4j graph finds fraud rings &amp; shared devices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86783"/>
            <a:ext cx="4937760" cy="566928"/>
          </a:xfrm>
          <a:prstGeom prst="roundRect">
            <a:avLst>
              <a:gd name="adj" fmla="val 5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69079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FUSE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Ensemble scorer → combined risk 0–1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45151"/>
            <a:ext cx="4937760" cy="566928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72744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ACT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Agentic triage builds a risk dossier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011680"/>
            <a:ext cx="5852160" cy="310896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148840"/>
            <a:ext cx="5394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63A"/>
                </a:solidFill>
                <a:latin typeface="Georgia"/>
              </a:rPr>
              <a:t>A real anomaly, told simply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45576C"/>
                </a:solidFill>
                <a:latin typeface="Calibri"/>
              </a:rPr>
              <a:t>Amit’s account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3263A"/>
                </a:solidFill>
                <a:latin typeface="Calibri"/>
              </a:rPr>
              <a:t>usual spend ≈ $150 · always from IN · between 9am–9pm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2472E"/>
                </a:solidFill>
                <a:latin typeface="Calibri"/>
              </a:rPr>
              <a:t>Sudden $5,000 transfer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3263A"/>
                </a:solidFill>
                <a:latin typeface="Calibri"/>
              </a:rPr>
              <a:t>z‑score 3.2 · velocity spike · geo jump to a new country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C7C55"/>
                </a:solidFill>
                <a:latin typeface="Calibri"/>
              </a:rPr>
              <a:t>→  combined risk 0.78  →  BLOCK + investigate</a:t>
            </a:r>
          </a:p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45576C"/>
                </a:solidFill>
                <a:latin typeface="Calibri"/>
              </a:rPr>
              <a:t>The agent gathers evidence into a dossier an analyst can trust in seconds — not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06 ·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Merchant approval — days down to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RAG document extraction + KYB verification + a transparent 5-signal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394960" cy="9144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3263A"/>
                </a:solidFill>
                <a:latin typeface="Calibri"/>
              </a:rPr>
              <a:t>RAG + dual OCR  </a:t>
            </a:r>
            <a:r>
              <a:rPr sz="1150" b="0" i="0">
                <a:solidFill>
                  <a:srgbClr val="45576C"/>
                </a:solidFill>
                <a:latin typeface="Calibri"/>
              </a:rPr>
              <a:t>parses registration docs (Tesseract speed + EasyOCR accuracy)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80360"/>
            <a:ext cx="5394960" cy="91440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3263A"/>
                </a:solidFill>
                <a:latin typeface="Calibri"/>
              </a:rPr>
              <a:t>KYB verification  </a:t>
            </a:r>
            <a:r>
              <a:rPr sz="1150" b="0" i="0">
                <a:solidFill>
                  <a:srgbClr val="45576C"/>
                </a:solidFill>
                <a:latin typeface="Calibri"/>
              </a:rPr>
              <a:t>checks required fields, industry &amp; geographic risk against a high-risk country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31920"/>
            <a:ext cx="5394960" cy="868680"/>
          </a:xfrm>
          <a:prstGeom prst="roundRect">
            <a:avLst>
              <a:gd name="adj" fmla="val 5500"/>
            </a:avLst>
          </a:prstGeom>
          <a:solidFill>
            <a:srgbClr val="E3F3EC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41648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C7C55"/>
                </a:solidFill>
                <a:latin typeface="Calibri"/>
              </a:rPr>
              <a:t>Result  </a:t>
            </a:r>
            <a:r>
              <a:rPr sz="1150" b="0" i="0">
                <a:solidFill>
                  <a:srgbClr val="13263A"/>
                </a:solidFill>
                <a:latin typeface="Calibri"/>
              </a:rPr>
              <a:t>Acme Corp → 0.15 → APPROVE · Suspicious Ltd → 0.85 → REJECT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63A"/>
                </a:solidFill>
                <a:latin typeface="Georgia"/>
              </a:rPr>
              <a:t>Transparent 5-signal risk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KYB completeness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194560"/>
            <a:ext cx="2468880" cy="2743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2194560"/>
            <a:ext cx="740664" cy="2743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84280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63A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Geographic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651760"/>
            <a:ext cx="2468880" cy="2743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2651760"/>
            <a:ext cx="493776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84280" y="26517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63A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08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Industry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108960"/>
            <a:ext cx="2468880" cy="2743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3108960"/>
            <a:ext cx="370332" cy="274320"/>
          </a:xfrm>
          <a:prstGeom prst="rect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84280" y="3108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63A"/>
                </a:solidFill>
                <a:latin typeface="Calibri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661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Web reputation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3566160"/>
            <a:ext cx="2468880" cy="2743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3566160"/>
            <a:ext cx="370332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84280" y="3566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63A"/>
                </a:solidFill>
                <a:latin typeface="Calibri"/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233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Sanctions screen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4023360"/>
            <a:ext cx="2468880" cy="274320"/>
          </a:xfrm>
          <a:prstGeom prst="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4023360"/>
            <a:ext cx="493776" cy="274320"/>
          </a:xfrm>
          <a:prstGeom prst="rect">
            <a:avLst/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4280" y="4023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63A"/>
                </a:solidFill>
                <a:latin typeface="Calibri"/>
              </a:rP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7200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3263A"/>
                </a:solidFill>
                <a:latin typeface="Georgia"/>
              </a:rPr>
              <a:t>The human layer  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Every score is explained by its parts — so a rejected merchant knows why, and a reviewer can override with full context.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07 · THE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Four AI techniques, one explainable brain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Each capability is built so a regulator — and a customer — can follow the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1109960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09728" cy="1024128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63A"/>
                </a:solidFill>
                <a:latin typeface="Georgia"/>
              </a:rPr>
              <a:t>LLM Entity Resolution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0E9F6E"/>
                </a:solidFill>
                <a:latin typeface="Calibri"/>
              </a:rPr>
              <a:t>Understands names, not strings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4884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Fuzzy matching + LLMs recover aliases &amp; transliterations →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249424"/>
            <a:ext cx="1691640" cy="548640"/>
          </a:xfrm>
          <a:prstGeom prst="roundRect">
            <a:avLst>
              <a:gd name="adj" fmla="val 55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35915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98.2% match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63824"/>
            <a:ext cx="11109960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109728" cy="1024128"/>
          </a:xfrm>
          <a:prstGeom prst="rect">
            <a:avLst/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73552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63A"/>
                </a:solidFill>
                <a:latin typeface="Georgia"/>
              </a:rPr>
              <a:t>Graph Neural Networks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C2472E"/>
                </a:solidFill>
                <a:latin typeface="Calibri"/>
              </a:rPr>
              <a:t>Sees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00984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Neo4j graphs surface fraud rings &amp; shared devices a rule can’t →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401568"/>
            <a:ext cx="1691640" cy="548640"/>
          </a:xfrm>
          <a:prstGeom prst="roundRect">
            <a:avLst>
              <a:gd name="adj" fmla="val 5500"/>
            </a:avLst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351129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97.5%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15968"/>
            <a:ext cx="11109960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315968"/>
            <a:ext cx="109728" cy="1024128"/>
          </a:xfrm>
          <a:prstGeom prst="rect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25696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63A"/>
                </a:solidFill>
                <a:latin typeface="Georgia"/>
              </a:rPr>
              <a:t>RAG for Compliance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163A63"/>
                </a:solidFill>
                <a:latin typeface="Calibri"/>
              </a:rPr>
              <a:t>Reads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5312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Vector cloud of rules + OCR extracts facts with citations →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4553712"/>
            <a:ext cx="1691640" cy="548640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46634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95% doc accuracy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68112"/>
            <a:ext cx="11109960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468112"/>
            <a:ext cx="109728" cy="10241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263A"/>
                </a:solidFill>
                <a:latin typeface="Georgia"/>
              </a:rPr>
              <a:t>Agentic AI Triage</a:t>
            </a:r>
          </a:p>
          <a:p>
            <a:pPr algn="l">
              <a:spcBef>
                <a:spcPts val="200"/>
              </a:spcBef>
            </a:pPr>
            <a:r>
              <a:rPr sz="1100" b="1" i="0">
                <a:solidFill>
                  <a:srgbClr val="C9A227"/>
                </a:solidFill>
                <a:latin typeface="Calibri"/>
              </a:rPr>
              <a:t>Investigates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60527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An agent queries every source and returns a human risk dossier →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5705855"/>
            <a:ext cx="1691640" cy="548640"/>
          </a:xfrm>
          <a:prstGeom prst="roundRect">
            <a:avLst>
              <a:gd name="adj" fmla="val 5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5815583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&gt;85% analyst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08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Measured results — tested, not promised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42 passing tests, 52% coverage, and targets met across every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109728" cy="13716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F6E"/>
                </a:solidFill>
                <a:latin typeface="Georgia"/>
              </a:rPr>
              <a:t>0.98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Fraud detection AUC–ROC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057400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2057400"/>
            <a:ext cx="109728" cy="13716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286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F6E"/>
                </a:solidFill>
                <a:latin typeface="Georgia"/>
              </a:rPr>
              <a:t>100%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Screening recall (target &gt;95%)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057400"/>
            <a:ext cx="10972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Georgia"/>
              </a:rPr>
              <a:t>~8%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False-positive rate (target &lt;10%)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30168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30168"/>
            <a:ext cx="109728" cy="137160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5876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F6E"/>
                </a:solidFill>
                <a:latin typeface="Georgia"/>
              </a:rPr>
              <a:t>96%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F1 score on fraud 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3630168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3630168"/>
            <a:ext cx="10972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385876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Georgia"/>
              </a:rPr>
              <a:t>&lt;5 min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Auto merchant onboarding (was days)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630168"/>
            <a:ext cx="3639312" cy="13716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630168"/>
            <a:ext cx="109728" cy="1371600"/>
          </a:xfrm>
          <a:prstGeom prst="rect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858768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3A63"/>
                </a:solidFill>
                <a:latin typeface="Georgia"/>
              </a:rPr>
              <a:t>&lt;100ms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150" b="0" i="0">
                <a:solidFill>
                  <a:srgbClr val="45576C"/>
                </a:solidFill>
                <a:latin typeface="Calibri"/>
              </a:rPr>
              <a:t>p99 screening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5577840" cy="960120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68112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Testing rigor  </a:t>
            </a:r>
            <a:r>
              <a:rPr sz="1150" b="0" i="0">
                <a:solidFill>
                  <a:srgbClr val="8FA3B8"/>
                </a:solidFill>
                <a:latin typeface="Calibri"/>
              </a:rPr>
              <a:t>42 unit, integration &amp; API tests across all modules · TDD throughout · Locust load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349240"/>
            <a:ext cx="5349240" cy="960120"/>
          </a:xfrm>
          <a:prstGeom prst="roundRect">
            <a:avLst>
              <a:gd name="adj" fmla="val 5500"/>
            </a:avLst>
          </a:prstGeom>
          <a:solidFill>
            <a:srgbClr val="E3F3EC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468112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C7C55"/>
                </a:solidFill>
                <a:latin typeface="Calibri"/>
              </a:rPr>
              <a:t>The human check  </a:t>
            </a:r>
            <a:r>
              <a:rPr sz="1150" b="0" i="0">
                <a:solidFill>
                  <a:srgbClr val="45576C"/>
                </a:solidFill>
                <a:latin typeface="Calibri"/>
              </a:rPr>
              <a:t>triage decisions agree with human analysts &gt;85% of the time — the machine assists, the analyst decides.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09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What changes for the people inside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Beyond metrics — real relief for analysts, merchants, and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099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463040" cy="960120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95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12264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63A"/>
                </a:solidFill>
                <a:latin typeface="Georgia"/>
              </a:rPr>
              <a:t>from 100 alerts to the few that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12264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$50–$100 saved per false alarm; more time on real crime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81528"/>
            <a:ext cx="111099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081528"/>
            <a:ext cx="1463040" cy="960120"/>
          </a:xfrm>
          <a:prstGeom prst="roundRect">
            <a:avLst>
              <a:gd name="adj" fmla="val 5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MERCHANT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27832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63A"/>
                </a:solidFill>
                <a:latin typeface="Georgia"/>
              </a:rPr>
              <a:t>onboarding in minutes, not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27832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honest businesses reach customers before rivals 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97096"/>
            <a:ext cx="111099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97096"/>
            <a:ext cx="1463040" cy="960120"/>
          </a:xfrm>
          <a:prstGeom prst="roundRect">
            <a:avLst>
              <a:gd name="adj" fmla="val 55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3434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3263A"/>
                </a:solidFill>
                <a:latin typeface="Georgia"/>
              </a:rPr>
              <a:t>money moves safely, and stays explainable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4340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45576C"/>
                </a:solidFill>
                <a:latin typeface="Calibri"/>
              </a:rPr>
              <a:t>a blocked transfer comes with a reason, not a denial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49240"/>
            <a:ext cx="11109960" cy="914400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Open-source &amp; self-hosted  </a:t>
            </a:r>
            <a:r>
              <a:rPr sz="1200" b="0" i="0">
                <a:solidFill>
                  <a:srgbClr val="8FA3B8"/>
                </a:solidFill>
                <a:latin typeface="Calibri"/>
              </a:rPr>
              <a:t>60–80% lower cost than commercial suites · explainable &amp; auditable for the EU AI Act · deploy anywhere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10 ·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A stack built to run, measure, and harden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Event-driven microservices on a containerized, Kubernetes-ready foundation.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697480" cy="22860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2697480" cy="82296"/>
          </a:xfrm>
          <a:prstGeom prst="rect">
            <a:avLst/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1D33"/>
                </a:solidFill>
                <a:latin typeface="Calibri"/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06040"/>
            <a:ext cx="2331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FastAPI + Uvicorn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Pydantic v2 · SQLAlchemy 2.0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Docker +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2011680"/>
            <a:ext cx="2697480" cy="22860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4136" y="2011680"/>
            <a:ext cx="2697480" cy="82296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F6E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06040"/>
            <a:ext cx="2331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PostgreSQL 16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Redis 7 · Kafka 7.6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Milvus 2.4 · Neo4j 5.22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011680"/>
            <a:ext cx="2697480" cy="22860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011680"/>
            <a:ext cx="2697480" cy="82296"/>
          </a:xfrm>
          <a:prstGeom prst="rect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3A63"/>
                </a:solidFill>
                <a:latin typeface="Calibri"/>
              </a:rPr>
              <a:t>AI /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2331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LangChain · LlamaIndex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sentence-transformers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XGBoost · PyTorch Geometric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8" y="2011680"/>
            <a:ext cx="2697480" cy="2286000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16568" y="2011680"/>
            <a:ext cx="269748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06040"/>
            <a:ext cx="2331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Prometheus + Grafana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GitHub Actions CI/CD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45576C"/>
                </a:solidFill>
                <a:latin typeface="Calibri"/>
              </a:rPr>
              <a:t>•  Kubernetes (prod)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11109960" cy="777240"/>
          </a:xfrm>
          <a:prstGeom prst="roundRect">
            <a:avLst>
              <a:gd name="adj" fmla="val 5500"/>
            </a:avLst>
          </a:prstGeom>
          <a:solidFill>
            <a:srgbClr val="E7EDF4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365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3263A"/>
                </a:solidFill>
                <a:latin typeface="Calibri"/>
              </a:rPr>
              <a:t>Reliability by design  </a:t>
            </a:r>
            <a:r>
              <a:rPr sz="1150" b="0" i="0">
                <a:solidFill>
                  <a:srgbClr val="45576C"/>
                </a:solidFill>
                <a:latin typeface="Calibri"/>
              </a:rPr>
              <a:t>every module degrades gracefully · JWT auth + Redis rate limiting · structured audit = immutable JSON trail · health checks on all 10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63A"/>
                </a:solidFill>
                <a:latin typeface="Georgia"/>
              </a:rPr>
              <a:t>“Built like a real product, not a class exercise”  </a:t>
            </a:r>
            <a:r>
              <a:rPr sz="1200" b="0" i="0">
                <a:solidFill>
                  <a:srgbClr val="45576C"/>
                </a:solidFill>
                <a:latin typeface="Calibri"/>
              </a:rPr>
              <a:t>— one command spins up the whole stack; the code is open, readable, and ready for production evaluation.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11 · THE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3263A"/>
                </a:solidFill>
                <a:latin typeface="Georgia"/>
              </a:rPr>
              <a:t>From prototype to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3716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264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5576C"/>
                </a:solidFill>
                <a:latin typeface="Calibri"/>
              </a:rPr>
              <a:t>A clear, honest path to production — and to wider, safer finance.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011680" cy="658368"/>
          </a:xfrm>
          <a:prstGeom prst="roundRect">
            <a:avLst>
              <a:gd name="adj" fmla="val 5500"/>
            </a:avLst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LLMs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65960"/>
            <a:ext cx="8869680" cy="658368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488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Connect real GPT/Anthropic APIs for entity resolution &amp;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07208"/>
            <a:ext cx="2011680" cy="658368"/>
          </a:xfrm>
          <a:prstGeom prst="roundRect">
            <a:avLst>
              <a:gd name="adj" fmla="val 55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0837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GRAPH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807208"/>
            <a:ext cx="8869680" cy="658368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99008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PyTorch Geometric GNNs for deeper fraud-ring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48456"/>
            <a:ext cx="2011680" cy="658368"/>
          </a:xfrm>
          <a:prstGeom prst="roundRect">
            <a:avLst>
              <a:gd name="adj" fmla="val 5500"/>
            </a:avLst>
          </a:prstGeom>
          <a:solidFill>
            <a:srgbClr val="C24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962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648456"/>
            <a:ext cx="8869680" cy="658368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831335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Multi-jurisdiction rules · SAR auto-filing · PEP screening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89704"/>
            <a:ext cx="2011680" cy="658368"/>
          </a:xfrm>
          <a:prstGeom prst="roundRect">
            <a:avLst>
              <a:gd name="adj" fmla="val 5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9087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489704"/>
            <a:ext cx="8869680" cy="658368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672584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Kubernetes with HPA · multi-region · event replay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30952"/>
            <a:ext cx="2011680" cy="658368"/>
          </a:xfrm>
          <a:prstGeom prst="roundRect">
            <a:avLst>
              <a:gd name="adj" fmla="val 55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CRYPTO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330952"/>
            <a:ext cx="8869680" cy="658368"/>
          </a:xfrm>
          <a:prstGeom prst="roundRect">
            <a:avLst>
              <a:gd name="adj" fmla="val 5500"/>
            </a:avLst>
          </a:prstGeom>
          <a:solidFill>
            <a:srgbClr val="F7F3EA"/>
          </a:solidFill>
          <a:ln w="9525">
            <a:solidFill>
              <a:srgbClr val="D9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513832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5576C"/>
                </a:solidFill>
                <a:latin typeface="Calibri"/>
              </a:rPr>
              <a:t>On-chain analytics &amp; mixer / VASP screening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63A"/>
                </a:solidFill>
                <a:latin typeface="Georgia"/>
              </a:rPr>
              <a:t>Why we built it this way  </a:t>
            </a:r>
            <a:r>
              <a:rPr sz="1200" b="0" i="0">
                <a:solidFill>
                  <a:srgbClr val="45576C"/>
                </a:solidFill>
                <a:latin typeface="Calibri"/>
              </a:rPr>
              <a:t>the architecture was designed so each future step lands without rewriting what works — compliance tech that can grow with the institutions that trust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FINANCIAL CRIME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1463040"/>
            <a:ext cx="5120640" cy="5120640"/>
          </a:xfrm>
          <a:prstGeom prst="ellipse">
            <a:avLst/>
          </a:prstGeom>
          <a:solidFill>
            <a:srgbClr val="10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640080"/>
            <a:ext cx="3657600" cy="3657600"/>
          </a:xfrm>
          <a:prstGeom prst="ellipse">
            <a:avLst/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74920" y="1920240"/>
            <a:ext cx="173736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E8CC7A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8FA3B8"/>
                </a:solidFill>
                <a:latin typeface="Calibri"/>
              </a:rPr>
              <a:t>trust is the product — Sentinel just makes it measurable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Shreyash Singh &amp; Team  ·  CSE–AIML  ·  IPS Academy, Indore</a:t>
            </a:r>
          </a:p>
          <a:p>
            <a:pPr algn="ctr">
              <a:spcBef>
                <a:spcPts val="600"/>
              </a:spcBef>
            </a:pPr>
            <a:r>
              <a:rPr sz="1200" b="1" i="0">
                <a:solidFill>
                  <a:srgbClr val="C9A227"/>
                </a:solidFill>
                <a:latin typeface="Calibri"/>
              </a:rPr>
              <a:t>github.com/celestialgeeks/sentinel-fintech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FA3B8"/>
                </a:solidFill>
                <a:latin typeface="Calibri"/>
              </a:rPr>
              <a:t>SENTINEL · THANKS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